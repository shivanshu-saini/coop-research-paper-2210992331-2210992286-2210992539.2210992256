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71" r:id="rId7"/>
    <p:sldId id="269" r:id="rId8"/>
    <p:sldId id="270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68" r:id="rId1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Traffic Signs Recognition using Deep Learning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Shivanshu Saini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2210992331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Vishesh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2210992539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Sanya Bansal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2210992256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Sharad Jindal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2210992286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6B5D81-2E5E-2AA6-A0FD-CAF39DE0C934}"/>
              </a:ext>
            </a:extLst>
          </p:cNvPr>
          <p:cNvSpPr txBox="1"/>
          <p:nvPr/>
        </p:nvSpPr>
        <p:spPr>
          <a:xfrm>
            <a:off x="6907161" y="5094039"/>
            <a:ext cx="2492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By:-</a:t>
            </a:r>
          </a:p>
          <a:p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Dr Simarjit Kaur ,Associate Professor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3890AC-FFBC-2CE6-BA9C-3201E8FFE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9287"/>
            <a:ext cx="9143999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Road safety is a major global concern, with traffic accidents causing significant loss of life and property.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signs provide critical information such as speed limits, warnings, and navigation guidance.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recognition of traffic signs by drivers is prone to: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Human error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Fatigue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Distractions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 Transportation Systems (ITS) aim to automate driving tasks and improve safety.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Sign Detection and Recognition (TSDR) is a fundamental component of: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Autonomous vehicles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Driver assistance systems (ADAS)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the rise of self-driving cars, automatic and real-time traffic sign recognition has become essential.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techniques, especially CNNs, have revolutionized image recognition tasks due to their ability to learn complex patterns.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1D065-1C66-129E-BD51-4009EC76B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1F4D5-B630-8349-4B12-83917082503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0" y="1111045"/>
            <a:ext cx="9144000" cy="5545393"/>
          </a:xfrm>
        </p:spPr>
        <p:txBody>
          <a:bodyPr/>
          <a:lstStyle/>
          <a:p>
            <a:r>
              <a:rPr lang="en-US" sz="2000" b="1" dirty="0"/>
              <a:t>Challenges in Traffic Sign Detection &amp; Recognition (TSDR)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The Core Problem:</a:t>
            </a:r>
            <a:endParaRPr lang="en-US" sz="2000" dirty="0"/>
          </a:p>
          <a:p>
            <a:r>
              <a:rPr lang="en-US" sz="2000" dirty="0"/>
              <a:t>Recognition of traffic signs has not been fully explored by science, especially for Indian roads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Key Challenges: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Limited Datasets:</a:t>
            </a:r>
            <a:r>
              <a:rPr lang="en-US" sz="2000" dirty="0"/>
              <a:t> Hardly any reasonable dataset exists for Indian traffic signs, unlike decent-sized datasets available for other countries worldwide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Model Performance Gap:</a:t>
            </a:r>
            <a:r>
              <a:rPr lang="en-US" sz="2000" dirty="0"/>
              <a:t> Deep learning models like Mask R-CNN and Fast R-CNN — trained and tested only on foreign road datasets — may not show desired results when directly applied to Indian roads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High Variation:</a:t>
            </a:r>
            <a:r>
              <a:rPr lang="en-US" sz="2000" dirty="0"/>
              <a:t> Many traffic sign categories exhibit high changes in appearance, inter and intra category variations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Environmental Factors:</a:t>
            </a:r>
            <a:r>
              <a:rPr lang="en-US" sz="2000" dirty="0"/>
              <a:t> Scaling, orientation changes, varying lighting conditions, and occlusion affect detection accuracy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Limited Categories:</a:t>
            </a:r>
            <a:r>
              <a:rPr lang="en-US" sz="2000" dirty="0"/>
              <a:t> Most existing TSDR work deals with a limited number of categories associated with Advanced Driver Assistance Systems (ADAS)</a:t>
            </a:r>
          </a:p>
          <a:p>
            <a:br>
              <a:rPr lang="en-US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79966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2F461-1376-050B-8957-38E207CF3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F16323-E941-A7F3-4BA2-BAAECDA774D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-1" y="732208"/>
            <a:ext cx="9261987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Increasing number of road accidents due to: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Ignored or unseen traffic signs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Poor visibility conditions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in automatic detection: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Diverse shapes (circle, triangle, rectangle)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Variations in color and size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Environmental conditions (rain, fog, lighting)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Occlusion and background noise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Mostly trained on foreign datasets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Not suitable for Indian road conditions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Large-scale annotated datasets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Models capable of handling real-world complexity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a system that: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Works in real-time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Provides high accuracy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Handles diverse traffic scenarios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334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D6531-B683-58C8-C044-173613F82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2D092-AF52-4176-C2C1-EA3EAB27D80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1022554"/>
            <a:ext cx="9144000" cy="5614219"/>
          </a:xfrm>
        </p:spPr>
        <p:txBody>
          <a:bodyPr>
            <a:normAutofit/>
          </a:bodyPr>
          <a:lstStyle/>
          <a:p>
            <a:r>
              <a:rPr lang="en-US" sz="2800" b="1" dirty="0"/>
              <a:t>What This Research Aims to Achieve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Primary </a:t>
            </a:r>
            <a:r>
              <a:rPr lang="en-US" sz="2200" b="1" dirty="0" err="1"/>
              <a:t>Objective:</a:t>
            </a:r>
            <a:r>
              <a:rPr lang="en-US" sz="2200" dirty="0" err="1"/>
              <a:t>Identify</a:t>
            </a:r>
            <a:r>
              <a:rPr lang="en-US" sz="2200" dirty="0"/>
              <a:t> measures that minimize traffic accidents through     improved traffic sign recognition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Specific Goals: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Develop an original dataset</a:t>
            </a:r>
            <a:r>
              <a:rPr lang="en-US" sz="2200" dirty="0"/>
              <a:t> for Indian traffic signs using deep learning techniques (first of its kind)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Deploy a refined deep learning RMR-CNN model</a:t>
            </a:r>
            <a:r>
              <a:rPr lang="en-US" sz="2200" dirty="0"/>
              <a:t> incorporating improvements to the conventional Mask R-CNN system for a large number of Indian traffic signs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Handle challenging scenarios</a:t>
            </a:r>
            <a:r>
              <a:rPr lang="en-US" sz="2200" dirty="0"/>
              <a:t> including:</a:t>
            </a:r>
          </a:p>
          <a:p>
            <a:pPr lvl="1"/>
            <a:r>
              <a:rPr lang="en-US" sz="2200" dirty="0"/>
              <a:t>Scaling and orientation changes</a:t>
            </a:r>
          </a:p>
          <a:p>
            <a:pPr lvl="1"/>
            <a:r>
              <a:rPr lang="en-US" sz="2200" dirty="0"/>
              <a:t>Variable lighting conditions</a:t>
            </a:r>
          </a:p>
          <a:p>
            <a:pPr lvl="1"/>
            <a:r>
              <a:rPr lang="en-US" sz="2200" dirty="0"/>
              <a:t>Inter and intra category variations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Evaluate and compare</a:t>
            </a:r>
            <a:r>
              <a:rPr lang="en-US" sz="2200" dirty="0"/>
              <a:t> performance against conventional architectures like Fast R-CNN and Mask R-CNN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Achieve higher precision</a:t>
            </a:r>
            <a:r>
              <a:rPr lang="en-US" sz="2200" dirty="0"/>
              <a:t> than existing state-of-the-art methods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6424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CD21B-8260-5E7C-7DC4-121B483F3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/>
              <a:t>Existing Methods &amp; Their Limitations</a:t>
            </a:r>
            <a:br>
              <a:rPr lang="en-IN" sz="2400" b="1" dirty="0"/>
            </a:b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C171A-9588-B7AB-7A7F-7A83340EC0B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914039"/>
            <a:ext cx="9144000" cy="5673573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Existing Methods</a:t>
            </a:r>
          </a:p>
          <a:p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Traditional Methods</a:t>
            </a:r>
            <a:r>
              <a:rPr lang="en-US" sz="3200" dirty="0"/>
              <a:t> </a:t>
            </a:r>
          </a:p>
          <a:p>
            <a:pPr marL="514350" lvl="1" indent="-514350">
              <a:buFont typeface="+mj-lt"/>
              <a:buAutoNum type="arabicParenR"/>
            </a:pPr>
            <a:r>
              <a:rPr lang="en-US" sz="2800" dirty="0"/>
              <a:t>SVM (Support Vector Machine) </a:t>
            </a:r>
          </a:p>
          <a:p>
            <a:pPr marL="514350" lvl="1" indent="-514350">
              <a:buFont typeface="+mj-lt"/>
              <a:buAutoNum type="arabicParenR"/>
            </a:pPr>
            <a:r>
              <a:rPr lang="en-US" sz="2800" dirty="0"/>
              <a:t>HOG (Histogram of Oriented Gradients) </a:t>
            </a:r>
          </a:p>
          <a:p>
            <a:pPr marL="514350" lvl="1" indent="-514350">
              <a:buFont typeface="+mj-lt"/>
              <a:buAutoNum type="arabicParenR"/>
            </a:pPr>
            <a:r>
              <a:rPr lang="en-US" sz="2800" dirty="0"/>
              <a:t>Color-based segmentation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Deep Learning Methods</a:t>
            </a:r>
            <a:r>
              <a:rPr lang="en-US" sz="2800" dirty="0"/>
              <a:t> </a:t>
            </a:r>
          </a:p>
          <a:p>
            <a:pPr marL="514350" lvl="1" indent="-514350">
              <a:buFont typeface="+mj-lt"/>
              <a:buAutoNum type="arabicParenR"/>
            </a:pPr>
            <a:r>
              <a:rPr lang="en-US" sz="2800" dirty="0"/>
              <a:t>CNN (Convolutional Neural Networks) </a:t>
            </a:r>
          </a:p>
          <a:p>
            <a:pPr marL="514350" lvl="1" indent="-514350">
              <a:buFont typeface="+mj-lt"/>
              <a:buAutoNum type="arabicParenR"/>
            </a:pPr>
            <a:r>
              <a:rPr lang="en-US" sz="2800" dirty="0"/>
              <a:t>Fast R-CNN </a:t>
            </a:r>
          </a:p>
          <a:p>
            <a:pPr marL="514350" lvl="1" indent="-514350">
              <a:buFont typeface="+mj-lt"/>
              <a:buAutoNum type="arabicParenR"/>
            </a:pPr>
            <a:r>
              <a:rPr lang="en-US" sz="2800" dirty="0"/>
              <a:t>Faster R-CNN </a:t>
            </a:r>
          </a:p>
          <a:p>
            <a:pPr marL="514350" lvl="1" indent="-514350">
              <a:buFont typeface="+mj-lt"/>
              <a:buAutoNum type="arabicParenR"/>
            </a:pPr>
            <a:r>
              <a:rPr lang="en-US" sz="2800" dirty="0"/>
              <a:t>Mask R-CNN </a:t>
            </a:r>
          </a:p>
          <a:p>
            <a:pPr marL="514350" lvl="1" indent="-514350">
              <a:buFont typeface="+mj-lt"/>
              <a:buAutoNum type="arabicParenR"/>
            </a:pPr>
            <a:r>
              <a:rPr lang="en-US" sz="2800" dirty="0"/>
              <a:t>YOLO </a:t>
            </a:r>
            <a:br>
              <a:rPr lang="en-US" sz="2000" dirty="0"/>
            </a:br>
            <a:endParaRPr lang="en-US" sz="20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860746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39B42-0E68-997D-5FFD-67721919516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8658" y="914040"/>
            <a:ext cx="9065342" cy="571290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Limitations</a:t>
            </a:r>
          </a:p>
          <a:p>
            <a:pPr lvl="8"/>
            <a:r>
              <a:rPr lang="en-US" sz="2000" dirty="0"/>
              <a:t>Limited number of categories in datasets. </a:t>
            </a:r>
          </a:p>
          <a:p>
            <a:pPr lvl="8"/>
            <a:r>
              <a:rPr lang="en-US" sz="2000" dirty="0"/>
              <a:t>Poor generalization across different countries.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High dependency on: </a:t>
            </a:r>
          </a:p>
          <a:p>
            <a:pPr lvl="1"/>
            <a:r>
              <a:rPr lang="en-US" sz="2200" dirty="0"/>
              <a:t>Image quality </a:t>
            </a:r>
          </a:p>
          <a:p>
            <a:pPr lvl="1"/>
            <a:r>
              <a:rPr lang="en-US" sz="2200" dirty="0"/>
              <a:t>Camera resolution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Computational complexity: </a:t>
            </a:r>
          </a:p>
          <a:p>
            <a:pPr lvl="1"/>
            <a:r>
              <a:rPr lang="en-US" sz="2200" dirty="0"/>
              <a:t>Slow processing speed in some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Difficulty in detecting: </a:t>
            </a:r>
          </a:p>
          <a:p>
            <a:pPr lvl="1"/>
            <a:r>
              <a:rPr lang="en-US" sz="2200" dirty="0"/>
              <a:t>Small-sized traffic signs </a:t>
            </a:r>
          </a:p>
          <a:p>
            <a:pPr lvl="1"/>
            <a:r>
              <a:rPr lang="en-US" sz="2200" dirty="0"/>
              <a:t>Partially occluded signs </a:t>
            </a:r>
          </a:p>
          <a:p>
            <a:r>
              <a:rPr lang="en-US" sz="2200" dirty="0"/>
              <a:t>High false detection rates in cluttered environments. </a:t>
            </a:r>
          </a:p>
          <a:p>
            <a:r>
              <a:rPr lang="en-US" sz="2200" dirty="0"/>
              <a:t>Lack of real-time efficiency in some approaches.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529073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953C-1ED2-6CC3-6D87-C58BB814E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83045" cy="1160206"/>
          </a:xfrm>
        </p:spPr>
        <p:txBody>
          <a:bodyPr/>
          <a:lstStyle/>
          <a:p>
            <a:r>
              <a:rPr lang="en-US" sz="3000" b="1" dirty="0"/>
              <a:t>Proposed Solution - Method Used (CNN / RMR-CNN)</a:t>
            </a:r>
            <a:br>
              <a:rPr lang="en-US" sz="3000" b="1" dirty="0"/>
            </a:br>
            <a:endParaRPr lang="en-IN" sz="3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FA738-79C3-D34F-A077-372BBBC8D6B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-1" y="1061884"/>
            <a:ext cx="9075175" cy="5633884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100" b="1" dirty="0"/>
              <a:t>Refined Mask R-CNN (RMR-CNN) Architecture</a:t>
            </a:r>
            <a:endParaRPr lang="en-IN" sz="31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b="1" dirty="0"/>
              <a:t>Why Mask R-CNN?</a:t>
            </a:r>
            <a:endParaRPr lang="en-IN" sz="23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Faster R-CNN provides only bounding boxes (includes both object and background pixels)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b="1" dirty="0"/>
              <a:t>Mask R-CNN</a:t>
            </a:r>
            <a:r>
              <a:rPr lang="en-IN" sz="2300" dirty="0"/>
              <a:t> outputs a binary mask to determine whether a pixel belongs to a particular object → higher precision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b="1" dirty="0"/>
              <a:t>Our Refinements (RMR-CNN):</a:t>
            </a:r>
            <a:endParaRPr lang="en-IN" sz="23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b="1" dirty="0"/>
              <a:t>Architectural Improvements</a:t>
            </a:r>
            <a:endParaRPr lang="en-IN" sz="23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sz="2300" dirty="0"/>
              <a:t>Enhanced feature extraction layers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sz="2300" dirty="0"/>
              <a:t>Optimized region proposal 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b="1" dirty="0"/>
              <a:t>Parameter Tuning</a:t>
            </a:r>
            <a:endParaRPr lang="en-IN" sz="23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sz="2300" dirty="0"/>
              <a:t>Adjusted parametric values to adapt Mask R-CNN to Indian traffic sign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b="1" dirty="0"/>
              <a:t>Data Augmentation</a:t>
            </a:r>
            <a:endParaRPr lang="en-IN" sz="23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sz="2300" dirty="0"/>
              <a:t>Scaling, rotation, lighting variation simulation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b="1" dirty="0"/>
              <a:t>Pre-processing Enhancements</a:t>
            </a:r>
            <a:r>
              <a:rPr lang="en-IN" sz="2300" dirty="0"/>
              <a:t> (3 key steps):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sz="2300" dirty="0"/>
              <a:t>Shape detection (triangles, rectangles, circles)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sz="2300" dirty="0"/>
              <a:t>Region of Interest (ROI) extraction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sz="2300" dirty="0" err="1"/>
              <a:t>Color</a:t>
            </a:r>
            <a:r>
              <a:rPr lang="en-IN" sz="2300" dirty="0"/>
              <a:t> probability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b="1" dirty="0"/>
              <a:t>Result:</a:t>
            </a:r>
            <a:r>
              <a:rPr lang="en-IN" sz="2300" dirty="0"/>
              <a:t> Higher accuracy than standard Mask R-CNN and Faster R-CNN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732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E351A-841C-0E23-D95C-C13DDF8C7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390968" cy="1170039"/>
          </a:xfrm>
        </p:spPr>
        <p:txBody>
          <a:bodyPr/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IN" b="1" dirty="0">
                <a:solidFill>
                  <a:srgbClr val="0F1115"/>
                </a:solidFill>
                <a:effectLst/>
                <a:latin typeface="quote-cjk-patch"/>
              </a:rPr>
              <a:t>Dataset &amp; Preprocessing</a:t>
            </a:r>
            <a:br>
              <a:rPr lang="en-IN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EB8FBBE-B163-567D-EC06-BEAAC7A98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345640"/>
              </p:ext>
            </p:extLst>
          </p:nvPr>
        </p:nvGraphicFramePr>
        <p:xfrm>
          <a:off x="381490" y="1839313"/>
          <a:ext cx="5861994" cy="2693357"/>
        </p:xfrm>
        <a:graphic>
          <a:graphicData uri="http://schemas.openxmlformats.org/drawingml/2006/table">
            <a:tbl>
              <a:tblPr/>
              <a:tblGrid>
                <a:gridCol w="2930997">
                  <a:extLst>
                    <a:ext uri="{9D8B030D-6E8A-4147-A177-3AD203B41FA5}">
                      <a16:colId xmlns:a16="http://schemas.microsoft.com/office/drawing/2014/main" val="1211643700"/>
                    </a:ext>
                  </a:extLst>
                </a:gridCol>
                <a:gridCol w="2930997">
                  <a:extLst>
                    <a:ext uri="{9D8B030D-6E8A-4147-A177-3AD203B41FA5}">
                      <a16:colId xmlns:a16="http://schemas.microsoft.com/office/drawing/2014/main" val="1141460696"/>
                    </a:ext>
                  </a:extLst>
                </a:gridCol>
              </a:tblGrid>
              <a:tr h="40728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154417"/>
                  </a:ext>
                </a:extLst>
              </a:tr>
              <a:tr h="40728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Total Images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6,480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787102"/>
                  </a:ext>
                </a:extLst>
              </a:tr>
              <a:tr h="40728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Total Traffic Sign Instances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7,056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033943"/>
                  </a:ext>
                </a:extLst>
              </a:tr>
              <a:tr h="40728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Categories (Indian signs)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87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671730"/>
                  </a:ext>
                </a:extLst>
              </a:tr>
              <a:tr h="65691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Categories (from standard datasets)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13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67131"/>
                  </a:ext>
                </a:extLst>
              </a:tr>
              <a:tr h="40728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Total Categories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 dirty="0">
                          <a:effectLst/>
                          <a:latin typeface="quote-cjk-patch"/>
                        </a:rPr>
                        <a:t>100</a:t>
                      </a:r>
                      <a:endParaRPr lang="en-IN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01240"/>
                  </a:ext>
                </a:extLst>
              </a:tr>
            </a:tbl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AE8D7373-CDB3-2EED-D3D9-1C7D1768C0A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1" y="856339"/>
            <a:ext cx="8927690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Custom Indian Traffic Sign Dataset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Dataset Statistics: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4039FA-F9DD-8A6A-1A7C-6E54BE28478C}"/>
              </a:ext>
            </a:extLst>
          </p:cNvPr>
          <p:cNvSpPr txBox="1"/>
          <p:nvPr/>
        </p:nvSpPr>
        <p:spPr>
          <a:xfrm>
            <a:off x="216310" y="4801332"/>
            <a:ext cx="892769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Data Sources:</a:t>
            </a:r>
            <a:endParaRPr lang="en-US" sz="2000" dirty="0"/>
          </a:p>
          <a:p>
            <a:r>
              <a:rPr lang="en-US" sz="2000" dirty="0"/>
              <a:t>4,544 images (70.12%) — Real-world capture from Indian roads</a:t>
            </a:r>
          </a:p>
          <a:p>
            <a:r>
              <a:rPr lang="en-US" sz="2000" dirty="0"/>
              <a:t>1,936 images — Public websites (Jharkhand Police, India Mart, SlideShare</a:t>
            </a:r>
            <a:r>
              <a:rPr lang="en-US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1262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E0397-E328-619B-0EF6-140A043972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875071"/>
            <a:ext cx="9144000" cy="5692877"/>
          </a:xfrm>
        </p:spPr>
        <p:txBody>
          <a:bodyPr>
            <a:normAutofit/>
          </a:bodyPr>
          <a:lstStyle/>
          <a:p>
            <a:r>
              <a:rPr lang="en-IN" sz="2800" b="1" dirty="0"/>
              <a:t>Image Resolution:</a:t>
            </a:r>
            <a:endParaRPr lang="en-IN" sz="2800" dirty="0"/>
          </a:p>
          <a:p>
            <a:pPr marL="457200" lvl="1" indent="0">
              <a:buNone/>
            </a:pPr>
            <a:r>
              <a:rPr lang="en-IN" sz="2000" dirty="0"/>
              <a:t>High resolution (4128×2322, 774×1032, 960×1280) → 70.12%</a:t>
            </a:r>
          </a:p>
          <a:p>
            <a:pPr marL="457200" lvl="1" indent="0">
              <a:buNone/>
            </a:pPr>
            <a:r>
              <a:rPr lang="en-IN" sz="2000" dirty="0"/>
              <a:t>Low resolution (225×225, 200×200) → 29.8%</a:t>
            </a:r>
          </a:p>
          <a:p>
            <a:r>
              <a:rPr lang="en-IN" sz="2800" b="1" dirty="0"/>
              <a:t>Train-Test Split (80:20):</a:t>
            </a:r>
            <a:endParaRPr lang="en-IN" sz="2800" dirty="0"/>
          </a:p>
          <a:p>
            <a:pPr marL="457200" lvl="1" indent="0">
              <a:buNone/>
            </a:pPr>
            <a:r>
              <a:rPr lang="en-IN" sz="1800" dirty="0"/>
              <a:t>Training: 5,664 images</a:t>
            </a:r>
          </a:p>
          <a:p>
            <a:pPr marL="457200" lvl="1" indent="0">
              <a:buNone/>
            </a:pPr>
            <a:r>
              <a:rPr lang="en-IN" sz="1800" dirty="0"/>
              <a:t>Testing: 1,412 images</a:t>
            </a:r>
          </a:p>
          <a:p>
            <a:r>
              <a:rPr lang="en-IN" sz="2800" b="1" dirty="0"/>
              <a:t>Preprocessing Steps:</a:t>
            </a:r>
            <a:endParaRPr lang="en-IN" sz="2800" dirty="0"/>
          </a:p>
          <a:p>
            <a:r>
              <a:rPr lang="en-IN" sz="2800" b="1" dirty="0"/>
              <a:t>Shape Detection</a:t>
            </a:r>
            <a:r>
              <a:rPr lang="en-IN" sz="2800" dirty="0"/>
              <a:t> </a:t>
            </a:r>
            <a:r>
              <a:rPr lang="en-IN" dirty="0"/>
              <a:t>— </a:t>
            </a:r>
            <a:r>
              <a:rPr lang="en-IN" sz="2200" dirty="0"/>
              <a:t>Convert to grayscale → Counter detection (OpenCV) → Area calculation → Shape identification</a:t>
            </a:r>
          </a:p>
          <a:p>
            <a:r>
              <a:rPr lang="en-IN" sz="2800" b="1" dirty="0"/>
              <a:t>ROI Extraction</a:t>
            </a:r>
            <a:r>
              <a:rPr lang="en-IN" sz="2800" dirty="0"/>
              <a:t> </a:t>
            </a:r>
            <a:r>
              <a:rPr lang="en-IN" dirty="0"/>
              <a:t>— </a:t>
            </a:r>
            <a:r>
              <a:rPr lang="en-IN" sz="2200" dirty="0"/>
              <a:t>Hough Circle (circles) / Counter &amp; Edge detection (triangles/rectangles)</a:t>
            </a:r>
          </a:p>
          <a:p>
            <a:r>
              <a:rPr lang="en-IN" sz="2800" b="1" dirty="0" err="1"/>
              <a:t>Color</a:t>
            </a:r>
            <a:r>
              <a:rPr lang="en-IN" sz="2800" b="1" dirty="0"/>
              <a:t> Probability</a:t>
            </a:r>
            <a:r>
              <a:rPr lang="en-IN" sz="2800" dirty="0"/>
              <a:t> </a:t>
            </a:r>
            <a:r>
              <a:rPr lang="en-IN" dirty="0"/>
              <a:t>— </a:t>
            </a:r>
            <a:r>
              <a:rPr lang="en-IN" sz="2200" dirty="0"/>
              <a:t>Convert cropped images to </a:t>
            </a:r>
            <a:r>
              <a:rPr lang="en-IN" sz="2200" dirty="0" err="1"/>
              <a:t>color</a:t>
            </a:r>
            <a:r>
              <a:rPr lang="en-IN" sz="2200" dirty="0"/>
              <a:t> for next stage</a:t>
            </a:r>
          </a:p>
          <a:p>
            <a:pPr marL="0" indent="0">
              <a:buNone/>
            </a:pP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17035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6BB0B-EFAA-4FD5-91F3-5741CFE83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3794"/>
            <a:ext cx="6882581" cy="521109"/>
          </a:xfrm>
        </p:spPr>
        <p:txBody>
          <a:bodyPr/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IN" sz="4000" b="1" dirty="0">
                <a:solidFill>
                  <a:srgbClr val="0F1115"/>
                </a:solidFill>
                <a:effectLst/>
                <a:latin typeface="quote-cjk-patch"/>
              </a:rPr>
              <a:t>Feature Engineering &amp; Models</a:t>
            </a:r>
            <a:br>
              <a:rPr lang="en-IN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17ACCA-810A-F4F1-ECD6-6B0C6C6BE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120586"/>
              </p:ext>
            </p:extLst>
          </p:nvPr>
        </p:nvGraphicFramePr>
        <p:xfrm>
          <a:off x="206477" y="1842786"/>
          <a:ext cx="5814798" cy="3578941"/>
        </p:xfrm>
        <a:graphic>
          <a:graphicData uri="http://schemas.openxmlformats.org/drawingml/2006/table">
            <a:tbl>
              <a:tblPr/>
              <a:tblGrid>
                <a:gridCol w="2907399">
                  <a:extLst>
                    <a:ext uri="{9D8B030D-6E8A-4147-A177-3AD203B41FA5}">
                      <a16:colId xmlns:a16="http://schemas.microsoft.com/office/drawing/2014/main" val="1910298446"/>
                    </a:ext>
                  </a:extLst>
                </a:gridCol>
                <a:gridCol w="2907399">
                  <a:extLst>
                    <a:ext uri="{9D8B030D-6E8A-4147-A177-3AD203B41FA5}">
                      <a16:colId xmlns:a16="http://schemas.microsoft.com/office/drawing/2014/main" val="1448128913"/>
                    </a:ext>
                  </a:extLst>
                </a:gridCol>
              </a:tblGrid>
              <a:tr h="43170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Category Type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655646"/>
                  </a:ext>
                </a:extLst>
              </a:tr>
              <a:tr h="96088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Mandatory/Regulatory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No option but to follow; non-compliance is illegal/chargeable offence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525714"/>
                  </a:ext>
                </a:extLst>
              </a:tr>
              <a:tr h="96088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Cautionary/Warning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Alert users of slowdowns, roadwork, dangers, accidents ahead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997059"/>
                  </a:ext>
                </a:extLst>
              </a:tr>
              <a:tr h="122547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Informative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Direction confirmation, destination information, roadside services (food, lodging, fuel, restrooms)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86472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C358B02-FA89-B5A7-E54D-6AC92A1F7CB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206477" y="919456"/>
            <a:ext cx="8544234" cy="9233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Technical Architecture of RMR-CNN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Traffic Sign Categories Targeted: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107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307429-611E-4CD2-794B-4E76E648C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362367"/>
              </p:ext>
            </p:extLst>
          </p:nvPr>
        </p:nvGraphicFramePr>
        <p:xfrm>
          <a:off x="182881" y="1370915"/>
          <a:ext cx="8135208" cy="3328638"/>
        </p:xfrm>
        <a:graphic>
          <a:graphicData uri="http://schemas.openxmlformats.org/drawingml/2006/table">
            <a:tbl>
              <a:tblPr/>
              <a:tblGrid>
                <a:gridCol w="2711736">
                  <a:extLst>
                    <a:ext uri="{9D8B030D-6E8A-4147-A177-3AD203B41FA5}">
                      <a16:colId xmlns:a16="http://schemas.microsoft.com/office/drawing/2014/main" val="2382692717"/>
                    </a:ext>
                  </a:extLst>
                </a:gridCol>
                <a:gridCol w="2711736">
                  <a:extLst>
                    <a:ext uri="{9D8B030D-6E8A-4147-A177-3AD203B41FA5}">
                      <a16:colId xmlns:a16="http://schemas.microsoft.com/office/drawing/2014/main" val="436396806"/>
                    </a:ext>
                  </a:extLst>
                </a:gridCol>
                <a:gridCol w="2711736">
                  <a:extLst>
                    <a:ext uri="{9D8B030D-6E8A-4147-A177-3AD203B41FA5}">
                      <a16:colId xmlns:a16="http://schemas.microsoft.com/office/drawing/2014/main" val="2008990254"/>
                    </a:ext>
                  </a:extLst>
                </a:gridCol>
              </a:tblGrid>
              <a:tr h="59593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Model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Key Feature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Limitation Addressed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363761"/>
                  </a:ext>
                </a:extLst>
              </a:tr>
              <a:tr h="5959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Fast R-CNN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Uses region proposal network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Lower precision on Indian signs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973803"/>
                  </a:ext>
                </a:extLst>
              </a:tr>
              <a:tr h="82239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Mask R-CNN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Outputs binary mask (object vs. background)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Baseline for comparison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959876"/>
                  </a:ext>
                </a:extLst>
              </a:tr>
              <a:tr h="127530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RMR-CNN (Ours)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Refined architecture + pre-processing + data augmentation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 dirty="0">
                          <a:effectLst/>
                          <a:latin typeface="quote-cjk-patch"/>
                        </a:rPr>
                        <a:t>Highest precision achieved</a:t>
                      </a:r>
                      <a:endParaRPr lang="en-IN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0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62A5D59-8332-68F6-8099-7821A00B813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0" y="685151"/>
            <a:ext cx="8447374" cy="8617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Models Compared: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FC21AF-A65C-9A51-4306-E8F564399A9C}"/>
              </a:ext>
            </a:extLst>
          </p:cNvPr>
          <p:cNvSpPr txBox="1"/>
          <p:nvPr/>
        </p:nvSpPr>
        <p:spPr>
          <a:xfrm>
            <a:off x="0" y="4471422"/>
            <a:ext cx="82590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Handled Variations: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Scaling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Orientation 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Lighting condition 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 and intra category variations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Challenging categories not reported in previous works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9777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B24C5-EC0F-8257-27EE-AA997B225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A5F84-5769-3BED-FBAD-FCAC3FBE178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1303900"/>
            <a:ext cx="9144000" cy="5205054"/>
          </a:xfrm>
        </p:spPr>
        <p:txBody>
          <a:bodyPr/>
          <a:lstStyle/>
          <a:p>
            <a:r>
              <a:rPr lang="en-IN" sz="2000" b="1" dirty="0"/>
              <a:t>Performance Metrics</a:t>
            </a:r>
          </a:p>
          <a:p>
            <a:pPr marL="457200" lvl="1" indent="0">
              <a:buNone/>
            </a:pPr>
            <a:r>
              <a:rPr lang="en-IN" sz="1600" dirty="0"/>
              <a:t>Precision: </a:t>
            </a:r>
            <a:r>
              <a:rPr lang="en-IN" sz="1600" b="1" dirty="0"/>
              <a:t>96.18%</a:t>
            </a:r>
            <a:r>
              <a:rPr lang="en-IN" sz="1600" dirty="0"/>
              <a:t> </a:t>
            </a:r>
          </a:p>
          <a:p>
            <a:pPr marL="457200" lvl="1" indent="0">
              <a:buNone/>
            </a:pPr>
            <a:r>
              <a:rPr lang="en-IN" sz="1600" dirty="0"/>
              <a:t>Error rate: </a:t>
            </a:r>
            <a:r>
              <a:rPr lang="en-IN" sz="1600" b="1" dirty="0"/>
              <a:t>&lt; 4%</a:t>
            </a:r>
            <a:r>
              <a:rPr lang="en-IN" sz="1600" dirty="0"/>
              <a:t> 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610256-CE75-69D3-C625-A71ED4642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47441"/>
              </p:ext>
            </p:extLst>
          </p:nvPr>
        </p:nvGraphicFramePr>
        <p:xfrm>
          <a:off x="90947" y="1303900"/>
          <a:ext cx="8863782" cy="1620356"/>
        </p:xfrm>
        <a:graphic>
          <a:graphicData uri="http://schemas.openxmlformats.org/drawingml/2006/table">
            <a:tbl>
              <a:tblPr/>
              <a:tblGrid>
                <a:gridCol w="2954594">
                  <a:extLst>
                    <a:ext uri="{9D8B030D-6E8A-4147-A177-3AD203B41FA5}">
                      <a16:colId xmlns:a16="http://schemas.microsoft.com/office/drawing/2014/main" val="3814582672"/>
                    </a:ext>
                  </a:extLst>
                </a:gridCol>
                <a:gridCol w="2954594">
                  <a:extLst>
                    <a:ext uri="{9D8B030D-6E8A-4147-A177-3AD203B41FA5}">
                      <a16:colId xmlns:a16="http://schemas.microsoft.com/office/drawing/2014/main" val="2358585010"/>
                    </a:ext>
                  </a:extLst>
                </a:gridCol>
                <a:gridCol w="2954594">
                  <a:extLst>
                    <a:ext uri="{9D8B030D-6E8A-4147-A177-3AD203B41FA5}">
                      <a16:colId xmlns:a16="http://schemas.microsoft.com/office/drawing/2014/main" val="429430755"/>
                    </a:ext>
                  </a:extLst>
                </a:gridCol>
              </a:tblGrid>
              <a:tr h="405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46761"/>
                  </a:ext>
                </a:extLst>
              </a:tr>
              <a:tr h="405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 R-CNN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358908"/>
                  </a:ext>
                </a:extLst>
              </a:tr>
              <a:tr h="405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Mask R-CNN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455332"/>
                  </a:ext>
                </a:extLst>
              </a:tr>
              <a:tr h="405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RMR-CNN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96.18%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Best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5743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C59652-EA8F-E30C-653D-7C11465415E7}"/>
              </a:ext>
            </a:extLst>
          </p:cNvPr>
          <p:cNvSpPr txBox="1"/>
          <p:nvPr/>
        </p:nvSpPr>
        <p:spPr>
          <a:xfrm>
            <a:off x="0" y="3933744"/>
            <a:ext cx="9045677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Improved detection accuracy in: </a:t>
            </a:r>
          </a:p>
          <a:p>
            <a:pPr lvl="1"/>
            <a:r>
              <a:rPr lang="en-US" dirty="0"/>
              <a:t>Low visibility conditions </a:t>
            </a:r>
          </a:p>
          <a:p>
            <a:pPr lvl="1"/>
            <a:r>
              <a:rPr lang="en-US" dirty="0"/>
              <a:t>Complex backgrounds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Better handling of: </a:t>
            </a:r>
          </a:p>
          <a:p>
            <a:pPr lvl="1"/>
            <a:r>
              <a:rPr lang="en-US" dirty="0"/>
              <a:t>Multiple traffic signs </a:t>
            </a:r>
          </a:p>
          <a:p>
            <a:pPr lvl="1"/>
            <a:r>
              <a:rPr lang="en-US" dirty="0"/>
              <a:t>Small-sized objects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Faster and more reliable predictions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00290-2387-2377-5A76-3C5F6E1B7E49}"/>
              </a:ext>
            </a:extLst>
          </p:cNvPr>
          <p:cNvSpPr txBox="1"/>
          <p:nvPr/>
        </p:nvSpPr>
        <p:spPr>
          <a:xfrm>
            <a:off x="90947" y="934568"/>
            <a:ext cx="3696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Comparative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6325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6441C-3F09-1C22-8579-A0732321D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8AED2-F282-4BB6-E340-F75D9390AEF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1150374"/>
            <a:ext cx="8937523" cy="553556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Proposed RMR-CNN model significantly enhances traffic sign detection and recognition.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Custom dataset improves adaptability to real-world conditions.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Preprocessing plays a crucial role in boosting accuracy.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Achieved high precision with minimal error.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Suitable for integration into: </a:t>
            </a:r>
          </a:p>
          <a:p>
            <a:pPr lvl="1"/>
            <a:r>
              <a:rPr lang="en-US" sz="2400" dirty="0"/>
              <a:t>Autonomous vehicles </a:t>
            </a:r>
          </a:p>
          <a:p>
            <a:pPr lvl="1"/>
            <a:r>
              <a:rPr lang="en-US" sz="2400" dirty="0"/>
              <a:t>ADAS systems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Future Scope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Real-time deployment in smart vehicles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Expansion of dataset with more categories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Integration with GPS and navigation systems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Use of lightweight models for edge devices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Improvement in night-time and extreme weather detection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8195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34800</TotalTime>
  <Words>1210</Words>
  <Application>Microsoft Office PowerPoint</Application>
  <PresentationFormat>On-screen Show (4:3)</PresentationFormat>
  <Paragraphs>233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quote-cjk-patch</vt:lpstr>
      <vt:lpstr>Times New Roman</vt:lpstr>
      <vt:lpstr>Office Theme</vt:lpstr>
      <vt:lpstr>PowerPoint Presentation</vt:lpstr>
      <vt:lpstr>PowerPoint Presentation</vt:lpstr>
      <vt:lpstr>Problem Statement</vt:lpstr>
      <vt:lpstr>Problem Statement</vt:lpstr>
      <vt:lpstr>Objective</vt:lpstr>
      <vt:lpstr>Existing Methods &amp; Their Limitations </vt:lpstr>
      <vt:lpstr>PowerPoint Presentation</vt:lpstr>
      <vt:lpstr>Proposed Solution - Method Used (CNN / RMR-CNN) </vt:lpstr>
      <vt:lpstr>Dataset &amp; Preprocessing </vt:lpstr>
      <vt:lpstr>PowerPoint Presentation</vt:lpstr>
      <vt:lpstr>Feature Engineering &amp; Models </vt:lpstr>
      <vt:lpstr>PowerPoint Presentation</vt:lpstr>
      <vt:lpstr>Results</vt:lpstr>
      <vt:lpstr>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Shivanshu Saini</cp:lastModifiedBy>
  <cp:revision>2303</cp:revision>
  <dcterms:created xsi:type="dcterms:W3CDTF">2010-04-09T07:36:15Z</dcterms:created>
  <dcterms:modified xsi:type="dcterms:W3CDTF">2026-05-01T04:34:58Z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